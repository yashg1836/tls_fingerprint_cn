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88" d="100"/>
          <a:sy n="88" d="100"/>
        </p:scale>
        <p:origin x="228" y="5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5204809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1430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0E8C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COMPUTER NETWORKS — COURSE PROJECT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55448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400" b="1" dirty="0">
                <a:solidFill>
                  <a:srgbClr val="1A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TLS Fingerprinting</a:t>
            </a:r>
            <a:endParaRPr lang="en-US" sz="5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651760"/>
            <a:ext cx="8686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5B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Identifying who's really on the other end of an HTTPS connection — without decrypting anything.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794760"/>
            <a:ext cx="3291840" cy="1554480"/>
          </a:xfrm>
          <a:prstGeom prst="roundRect">
            <a:avLst>
              <a:gd name="adj" fmla="val 4706"/>
            </a:avLst>
          </a:prstGeom>
          <a:solidFill>
            <a:srgbClr val="142E3D"/>
          </a:solidFill>
          <a:ln w="12700">
            <a:solidFill>
              <a:srgbClr val="2344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 txBox="1"/>
          <p:nvPr/>
        </p:nvSpPr>
        <p:spPr>
          <a:xfrm>
            <a:off x="822960" y="393192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16C0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475488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AFC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clients captured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160520" y="3794760"/>
            <a:ext cx="3291840" cy="1554480"/>
          </a:xfrm>
          <a:prstGeom prst="roundRect">
            <a:avLst>
              <a:gd name="adj" fmla="val 4706"/>
            </a:avLst>
          </a:prstGeom>
          <a:solidFill>
            <a:srgbClr val="142E3D"/>
          </a:solidFill>
          <a:ln w="12700">
            <a:solidFill>
              <a:srgbClr val="2344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" name="Text 7"/>
          <p:cNvSpPr txBox="1"/>
          <p:nvPr/>
        </p:nvSpPr>
        <p:spPr>
          <a:xfrm>
            <a:off x="4343400" y="393192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16C0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</a:t>
            </a:r>
            <a:endParaRPr lang="en-US" sz="4400" dirty="0"/>
          </a:p>
        </p:txBody>
      </p:sp>
      <p:sp>
        <p:nvSpPr>
          <p:cNvPr id="10" name="Text 8"/>
          <p:cNvSpPr txBox="1"/>
          <p:nvPr/>
        </p:nvSpPr>
        <p:spPr>
          <a:xfrm>
            <a:off x="4343400" y="475488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AFC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entries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7680960" y="3794760"/>
            <a:ext cx="3291840" cy="1554480"/>
          </a:xfrm>
          <a:prstGeom prst="roundRect">
            <a:avLst>
              <a:gd name="adj" fmla="val 4706"/>
            </a:avLst>
          </a:prstGeom>
          <a:solidFill>
            <a:srgbClr val="142E3D"/>
          </a:solidFill>
          <a:ln w="12700">
            <a:solidFill>
              <a:srgbClr val="2344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Text 10"/>
          <p:cNvSpPr txBox="1"/>
          <p:nvPr/>
        </p:nvSpPr>
        <p:spPr>
          <a:xfrm>
            <a:off x="7863840" y="393192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16C0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4400" dirty="0"/>
          </a:p>
        </p:txBody>
      </p:sp>
      <p:sp>
        <p:nvSpPr>
          <p:cNvPr id="13" name="Text 11"/>
          <p:cNvSpPr txBox="1"/>
          <p:nvPr/>
        </p:nvSpPr>
        <p:spPr>
          <a:xfrm>
            <a:off x="7863840" y="475488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AFC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fingerprint schemes (JA3/JA3S/JA4)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10725912" y="64008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/ 14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16C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A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Once HTTPS starts, a server can't read what's inside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2148840"/>
            <a:ext cx="457200" cy="457200"/>
          </a:xfrm>
          <a:prstGeom prst="ellipse">
            <a:avLst/>
          </a:prstGeom>
          <a:solidFill>
            <a:srgbClr val="16C0A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" name="Text 3"/>
          <p:cNvSpPr txBox="1"/>
          <p:nvPr/>
        </p:nvSpPr>
        <p:spPr>
          <a:xfrm>
            <a:off x="548640" y="2148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2084832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A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Almost everything is encrypted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2487168"/>
            <a:ext cx="9875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B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Modern web traffic runs over HTTPS/TLS by default — URLs, headers, and payloads are opaque to anything watching the wire.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3429000"/>
            <a:ext cx="457200" cy="457200"/>
          </a:xfrm>
          <a:prstGeom prst="ellipse">
            <a:avLst/>
          </a:prstGeom>
          <a:solidFill>
            <a:srgbClr val="16C0A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" name="Text 7"/>
          <p:cNvSpPr txBox="1"/>
          <p:nvPr/>
        </p:nvSpPr>
        <p:spPr>
          <a:xfrm>
            <a:off x="548640" y="3429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3364992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A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Encryption hides identity, not just content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1234440" y="3767328"/>
            <a:ext cx="9875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B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bot pretending to be a browser, a scraper, or malware talking to its C2 server all look like ordinary encrypted traffic to a firewall.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4709160"/>
            <a:ext cx="457200" cy="457200"/>
          </a:xfrm>
          <a:prstGeom prst="ellipse">
            <a:avLst/>
          </a:prstGeom>
          <a:solidFill>
            <a:srgbClr val="16C0A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 txBox="1"/>
          <p:nvPr/>
        </p:nvSpPr>
        <p:spPr>
          <a:xfrm>
            <a:off x="548640" y="4709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1234440" y="4645152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A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Monitors are flying blind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1234440" y="5047488"/>
            <a:ext cx="9875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B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Firewalls and network monitors can no longer inspect what used to give away a client's identity.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5806440"/>
            <a:ext cx="11091672" cy="685800"/>
          </a:xfrm>
          <a:prstGeom prst="roundRect">
            <a:avLst>
              <a:gd name="adj" fmla="val 10667"/>
            </a:avLst>
          </a:prstGeom>
          <a:solidFill>
            <a:srgbClr val="F4F7F8"/>
          </a:solidFill>
          <a:ln w="12700">
            <a:solidFill>
              <a:srgbClr val="DCE6E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7" name="Text 15"/>
          <p:cNvSpPr txBox="1"/>
          <p:nvPr/>
        </p:nvSpPr>
        <p:spPr>
          <a:xfrm>
            <a:off x="777240" y="5806440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E8C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Question:  </a:t>
            </a:r>
            <a:r>
              <a:rPr lang="en-US" sz="1400" i="1" dirty="0">
                <a:solidFill>
                  <a:srgbClr val="1A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we tell WHO is really connecting, without breaking encryption for anyone?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725912" y="64008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/ 14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16C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A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moment of plaintext, before encryption locks in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85800" y="2011680"/>
            <a:ext cx="1737360" cy="457200"/>
          </a:xfrm>
          <a:prstGeom prst="roundRect">
            <a:avLst>
              <a:gd name="adj" fmla="val 12000"/>
            </a:avLst>
          </a:prstGeom>
          <a:solidFill>
            <a:srgbClr val="0B1F2A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" name="Text 3"/>
          <p:cNvSpPr txBox="1"/>
          <p:nvPr/>
        </p:nvSpPr>
        <p:spPr>
          <a:xfrm>
            <a:off x="685800" y="201168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8275320" y="2011680"/>
            <a:ext cx="1737360" cy="457200"/>
          </a:xfrm>
          <a:prstGeom prst="roundRect">
            <a:avLst>
              <a:gd name="adj" fmla="val 12000"/>
            </a:avLst>
          </a:prstGeom>
          <a:solidFill>
            <a:srgbClr val="0B1F2A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" name="Text 5"/>
          <p:cNvSpPr txBox="1"/>
          <p:nvPr/>
        </p:nvSpPr>
        <p:spPr>
          <a:xfrm>
            <a:off x="8275320" y="201168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554480" y="2514600"/>
            <a:ext cx="0" cy="3017520"/>
          </a:xfrm>
          <a:prstGeom prst="line">
            <a:avLst/>
          </a:prstGeom>
          <a:noFill/>
          <a:ln w="19050">
            <a:solidFill>
              <a:srgbClr val="DCE6E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" name="Shape 7"/>
          <p:cNvSpPr/>
          <p:nvPr/>
        </p:nvSpPr>
        <p:spPr>
          <a:xfrm>
            <a:off x="8686800" y="2514600"/>
            <a:ext cx="0" cy="3017520"/>
          </a:xfrm>
          <a:prstGeom prst="line">
            <a:avLst/>
          </a:prstGeom>
          <a:noFill/>
          <a:ln w="19050">
            <a:solidFill>
              <a:srgbClr val="DCE6E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Shape 8"/>
          <p:cNvSpPr/>
          <p:nvPr/>
        </p:nvSpPr>
        <p:spPr>
          <a:xfrm>
            <a:off x="1554480" y="2651760"/>
            <a:ext cx="7132320" cy="146304"/>
          </a:xfrm>
          <a:prstGeom prst="rightArrow">
            <a:avLst/>
          </a:prstGeom>
          <a:solidFill>
            <a:srgbClr val="16C0A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" name="Text 9"/>
          <p:cNvSpPr txBox="1"/>
          <p:nvPr/>
        </p:nvSpPr>
        <p:spPr>
          <a:xfrm>
            <a:off x="1554480" y="2359152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0E8C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ClientHello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1554480" y="3429000"/>
            <a:ext cx="7132320" cy="146304"/>
          </a:xfrm>
          <a:prstGeom prst="leftArrow">
            <a:avLst/>
          </a:prstGeom>
          <a:solidFill>
            <a:srgbClr val="16C0A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 txBox="1"/>
          <p:nvPr/>
        </p:nvSpPr>
        <p:spPr>
          <a:xfrm>
            <a:off x="1554480" y="3136392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0E8C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ServerHello, Certificate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1554480" y="4206240"/>
            <a:ext cx="7132320" cy="146304"/>
          </a:xfrm>
          <a:prstGeom prst="rightArrow">
            <a:avLst/>
          </a:prstGeom>
          <a:solidFill>
            <a:srgbClr val="DCE6E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5" name="Text 13"/>
          <p:cNvSpPr txBox="1"/>
          <p:nvPr/>
        </p:nvSpPr>
        <p:spPr>
          <a:xfrm>
            <a:off x="1554480" y="3913632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5B75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 exchange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1554480" y="4846320"/>
            <a:ext cx="7132320" cy="502920"/>
          </a:xfrm>
          <a:prstGeom prst="rect">
            <a:avLst/>
          </a:prstGeom>
          <a:solidFill>
            <a:srgbClr val="142E3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7" name="Text 15"/>
          <p:cNvSpPr txBox="1"/>
          <p:nvPr/>
        </p:nvSpPr>
        <p:spPr>
          <a:xfrm>
            <a:off x="1554480" y="4846320"/>
            <a:ext cx="7132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AFC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below is encrypted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48640" y="5486400"/>
            <a:ext cx="11091672" cy="914400"/>
          </a:xfrm>
          <a:prstGeom prst="roundRect">
            <a:avLst>
              <a:gd name="adj" fmla="val 8000"/>
            </a:avLst>
          </a:prstGeom>
          <a:solidFill>
            <a:srgbClr val="F4F7F8"/>
          </a:solidFill>
          <a:ln w="12700">
            <a:solidFill>
              <a:srgbClr val="DCE6E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Text 17"/>
          <p:cNvSpPr txBox="1"/>
          <p:nvPr/>
        </p:nvSpPr>
        <p:spPr>
          <a:xfrm>
            <a:off x="822960" y="54864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A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ClientHello and ServerHello are the only messages this project ever reads. </a:t>
            </a:r>
            <a:r>
              <a:rPr lang="en-US" sz="1150" dirty="0">
                <a:solidFill>
                  <a:srgbClr val="5B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 in TLS 1.3, both messages keep a legacy version field frozen at 0x0303 (“771” in decimal) for middlebox compatibility — the real version is carried separately in supported_versions, and JA3 hashes the legacy field regardless, which is why every JA3 string here starts with 771.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10725912" y="64008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/ 14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16C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A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published techniques turn that structure into a hash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1732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5B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JA3 (2017), JA3S, and JA4 (2023) — published fingerprinting techniques, not invented for this project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2011680"/>
            <a:ext cx="3611880" cy="3246120"/>
          </a:xfrm>
          <a:prstGeom prst="roundRect">
            <a:avLst>
              <a:gd name="adj" fmla="val 2254"/>
            </a:avLst>
          </a:prstGeom>
          <a:solidFill>
            <a:srgbClr val="F4F7F8"/>
          </a:solidFill>
          <a:ln w="12700">
            <a:solidFill>
              <a:srgbClr val="DCE6E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" name="Shape 4"/>
          <p:cNvSpPr/>
          <p:nvPr/>
        </p:nvSpPr>
        <p:spPr>
          <a:xfrm>
            <a:off x="822960" y="2286000"/>
            <a:ext cx="1371600" cy="502920"/>
          </a:xfrm>
          <a:prstGeom prst="roundRect">
            <a:avLst>
              <a:gd name="adj" fmla="val 10909"/>
            </a:avLst>
          </a:prstGeom>
          <a:solidFill>
            <a:srgbClr val="0B1F2A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" name="Text 5"/>
          <p:cNvSpPr txBox="1"/>
          <p:nvPr/>
        </p:nvSpPr>
        <p:spPr>
          <a:xfrm>
            <a:off x="822960" y="228600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6C0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JA3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926080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fingerprint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3474720"/>
            <a:ext cx="30632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B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Hashes the ClientHello's cipher list, extensions, and curves — in the order the client sent them.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4937760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0E8C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Salesforce, 2017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434840" y="2011680"/>
            <a:ext cx="3611880" cy="3246120"/>
          </a:xfrm>
          <a:prstGeom prst="roundRect">
            <a:avLst>
              <a:gd name="adj" fmla="val 2254"/>
            </a:avLst>
          </a:prstGeom>
          <a:solidFill>
            <a:srgbClr val="F4F7F8"/>
          </a:solidFill>
          <a:ln w="12700">
            <a:solidFill>
              <a:srgbClr val="DCE6E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Shape 10"/>
          <p:cNvSpPr/>
          <p:nvPr/>
        </p:nvSpPr>
        <p:spPr>
          <a:xfrm>
            <a:off x="4709160" y="2286000"/>
            <a:ext cx="1371600" cy="502920"/>
          </a:xfrm>
          <a:prstGeom prst="roundRect">
            <a:avLst>
              <a:gd name="adj" fmla="val 10909"/>
            </a:avLst>
          </a:prstGeom>
          <a:solidFill>
            <a:srgbClr val="0B1F2A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 txBox="1"/>
          <p:nvPr/>
        </p:nvSpPr>
        <p:spPr>
          <a:xfrm>
            <a:off x="4709160" y="228600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6C0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JA3S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4709160" y="2926080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fingerprint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4709160" y="3474720"/>
            <a:ext cx="30632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B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idea for a ServerHello. Depends on what the client offered, so it's a pair signature, not a pure identity.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4709160" y="4937760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0E8C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Salesforce, 2017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8321040" y="2011680"/>
            <a:ext cx="3611880" cy="3246120"/>
          </a:xfrm>
          <a:prstGeom prst="roundRect">
            <a:avLst>
              <a:gd name="adj" fmla="val 2254"/>
            </a:avLst>
          </a:prstGeom>
          <a:solidFill>
            <a:srgbClr val="F4F7F8"/>
          </a:solidFill>
          <a:ln w="12700">
            <a:solidFill>
              <a:srgbClr val="DCE6E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Shape 16"/>
          <p:cNvSpPr/>
          <p:nvPr/>
        </p:nvSpPr>
        <p:spPr>
          <a:xfrm>
            <a:off x="8595360" y="2286000"/>
            <a:ext cx="1371600" cy="502920"/>
          </a:xfrm>
          <a:prstGeom prst="roundRect">
            <a:avLst>
              <a:gd name="adj" fmla="val 10909"/>
            </a:avLst>
          </a:prstGeom>
          <a:solidFill>
            <a:srgbClr val="0B1F2A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9" name="Text 17"/>
          <p:cNvSpPr txBox="1"/>
          <p:nvPr/>
        </p:nvSpPr>
        <p:spPr>
          <a:xfrm>
            <a:off x="8595360" y="228600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6C0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JA4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8595360" y="2926080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Order-immune client fingerprint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8595360" y="3474720"/>
            <a:ext cx="30632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B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Sorts the cipher and extension lists before hashing, so shuffled order can't change the result.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8595360" y="4937760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0E8C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FoxIO, 2023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548640" y="5486400"/>
            <a:ext cx="11091672" cy="960120"/>
          </a:xfrm>
          <a:prstGeom prst="roundRect">
            <a:avLst>
              <a:gd name="adj" fmla="val 7619"/>
            </a:avLst>
          </a:prstGeom>
          <a:solidFill>
            <a:srgbClr val="0B1F2A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4" name="Text 22"/>
          <p:cNvSpPr txBox="1"/>
          <p:nvPr/>
        </p:nvSpPr>
        <p:spPr>
          <a:xfrm>
            <a:off x="822960" y="5486400"/>
            <a:ext cx="10515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shared complication: GREASE. </a:t>
            </a:r>
            <a:r>
              <a:rPr lang="en-US" sz="1200" dirty="0">
                <a:solidFill>
                  <a:srgbClr val="AFC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RFC 8701 defines 16 reserved values that clients insert at random positions specifically so servers can't hard-code assumptions about the future. All three schemes must strip GREASE before hashing — otherwise the same browser would hash differently on every connection.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10725912" y="64008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/ 14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16C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IT'S BUILT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A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five-stage pipeline, each stage independently tested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2834640"/>
            <a:ext cx="1965960" cy="1188720"/>
          </a:xfrm>
          <a:prstGeom prst="roundRect">
            <a:avLst>
              <a:gd name="adj" fmla="val 6154"/>
            </a:avLst>
          </a:prstGeom>
          <a:solidFill>
            <a:srgbClr val="0B1F2A"/>
          </a:solidFill>
          <a:ln w="19050">
            <a:solidFill>
              <a:srgbClr val="0B1F2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" name="Text 3"/>
          <p:cNvSpPr txBox="1"/>
          <p:nvPr/>
        </p:nvSpPr>
        <p:spPr>
          <a:xfrm>
            <a:off x="640080" y="2834640"/>
            <a:ext cx="1783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.pcap file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514600" y="3337560"/>
            <a:ext cx="237744" cy="182880"/>
          </a:xfrm>
          <a:prstGeom prst="rightArrow">
            <a:avLst/>
          </a:prstGeom>
          <a:solidFill>
            <a:srgbClr val="16C0A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" name="Shape 5"/>
          <p:cNvSpPr/>
          <p:nvPr/>
        </p:nvSpPr>
        <p:spPr>
          <a:xfrm>
            <a:off x="2770632" y="2834640"/>
            <a:ext cx="1965960" cy="1188720"/>
          </a:xfrm>
          <a:prstGeom prst="roundRect">
            <a:avLst>
              <a:gd name="adj" fmla="val 6154"/>
            </a:avLst>
          </a:prstGeom>
          <a:solidFill>
            <a:srgbClr val="F4F7F8"/>
          </a:solidFill>
          <a:ln w="19050">
            <a:solidFill>
              <a:srgbClr val="16C0A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 txBox="1"/>
          <p:nvPr/>
        </p:nvSpPr>
        <p:spPr>
          <a:xfrm>
            <a:off x="2862072" y="2834640"/>
            <a:ext cx="1783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A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parser.py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1A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(reassemble + parse)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736592" y="3337560"/>
            <a:ext cx="237744" cy="182880"/>
          </a:xfrm>
          <a:prstGeom prst="rightArrow">
            <a:avLst/>
          </a:prstGeom>
          <a:solidFill>
            <a:srgbClr val="16C0A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" name="Shape 8"/>
          <p:cNvSpPr/>
          <p:nvPr/>
        </p:nvSpPr>
        <p:spPr>
          <a:xfrm>
            <a:off x="4992624" y="2834640"/>
            <a:ext cx="1965960" cy="1188720"/>
          </a:xfrm>
          <a:prstGeom prst="roundRect">
            <a:avLst>
              <a:gd name="adj" fmla="val 6154"/>
            </a:avLst>
          </a:prstGeom>
          <a:solidFill>
            <a:srgbClr val="F4F7F8"/>
          </a:solidFill>
          <a:ln w="19050">
            <a:solidFill>
              <a:srgbClr val="16C0A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Text 9"/>
          <p:cNvSpPr txBox="1"/>
          <p:nvPr/>
        </p:nvSpPr>
        <p:spPr>
          <a:xfrm>
            <a:off x="5084064" y="2834640"/>
            <a:ext cx="1783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A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ja3 / ja3s / ja4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1A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(pure functions)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958584" y="3337560"/>
            <a:ext cx="237744" cy="182880"/>
          </a:xfrm>
          <a:prstGeom prst="rightArrow">
            <a:avLst/>
          </a:prstGeom>
          <a:solidFill>
            <a:srgbClr val="16C0A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3" name="Shape 11"/>
          <p:cNvSpPr/>
          <p:nvPr/>
        </p:nvSpPr>
        <p:spPr>
          <a:xfrm>
            <a:off x="7214616" y="2834640"/>
            <a:ext cx="1965960" cy="1188720"/>
          </a:xfrm>
          <a:prstGeom prst="roundRect">
            <a:avLst>
              <a:gd name="adj" fmla="val 6154"/>
            </a:avLst>
          </a:prstGeom>
          <a:solidFill>
            <a:srgbClr val="F4F7F8"/>
          </a:solidFill>
          <a:ln w="19050">
            <a:solidFill>
              <a:srgbClr val="16C0A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Text 12"/>
          <p:cNvSpPr txBox="1"/>
          <p:nvPr/>
        </p:nvSpPr>
        <p:spPr>
          <a:xfrm>
            <a:off x="7306056" y="2834640"/>
            <a:ext cx="1783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A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database.py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1A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(lookup)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9180576" y="3337560"/>
            <a:ext cx="237744" cy="182880"/>
          </a:xfrm>
          <a:prstGeom prst="rightArrow">
            <a:avLst/>
          </a:prstGeom>
          <a:solidFill>
            <a:srgbClr val="16C0A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6" name="Shape 14"/>
          <p:cNvSpPr/>
          <p:nvPr/>
        </p:nvSpPr>
        <p:spPr>
          <a:xfrm>
            <a:off x="9436608" y="2834640"/>
            <a:ext cx="1965960" cy="1188720"/>
          </a:xfrm>
          <a:prstGeom prst="roundRect">
            <a:avLst>
              <a:gd name="adj" fmla="val 6154"/>
            </a:avLst>
          </a:prstGeom>
          <a:solidFill>
            <a:srgbClr val="0B1F2A"/>
          </a:solidFill>
          <a:ln w="19050">
            <a:solidFill>
              <a:srgbClr val="0B1F2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7" name="Text 15"/>
          <p:cNvSpPr txBox="1"/>
          <p:nvPr/>
        </p:nvSpPr>
        <p:spPr>
          <a:xfrm>
            <a:off x="9528048" y="2834640"/>
            <a:ext cx="1783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 report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48640" y="4480560"/>
            <a:ext cx="11091672" cy="1508760"/>
          </a:xfrm>
          <a:prstGeom prst="roundRect">
            <a:avLst>
              <a:gd name="adj" fmla="val 4848"/>
            </a:avLst>
          </a:prstGeom>
          <a:solidFill>
            <a:srgbClr val="0B1F2A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9" name="Text 17"/>
          <p:cNvSpPr txBox="1"/>
          <p:nvPr/>
        </p:nvSpPr>
        <p:spPr>
          <a:xfrm>
            <a:off x="868680" y="4617720"/>
            <a:ext cx="104241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stage is a separate, independently-tested Python module. </a:t>
            </a:r>
            <a:r>
              <a:rPr lang="en-US" sz="1300" dirty="0">
                <a:solidFill>
                  <a:srgbClr val="AFC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handshake is parsed byte-by-byte against RFC 5246 / RFC 8446 rather than using a library's TLS layer — every offset the parser reads can be pointed at a specific line of the spec, which matters when a wrong offset produces a plausible-looking wrong answer instead of a crash.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10725912" y="64008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/ 14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16C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EXPERIMENTAL METHOD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A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Five real clients, chosen to isolate three variables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96596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0E8C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4206240" y="196596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0E8C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TLS LIBRARY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589520" y="196596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0E8C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IT'S IN THE SET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48640" y="2286000"/>
            <a:ext cx="11091672" cy="0"/>
          </a:xfrm>
          <a:prstGeom prst="line">
            <a:avLst/>
          </a:prstGeom>
          <a:noFill/>
          <a:ln w="19050">
            <a:solidFill>
              <a:srgbClr val="DCE6E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 txBox="1"/>
          <p:nvPr/>
        </p:nvSpPr>
        <p:spPr>
          <a:xfrm>
            <a:off x="594360" y="2423160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A2B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curl 8.7.1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4251960" y="242316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B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SecureTransport / LibreSSL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7635240" y="2423160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0E8C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macOS system build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48640" y="3026664"/>
            <a:ext cx="11091672" cy="621792"/>
          </a:xfrm>
          <a:prstGeom prst="rect">
            <a:avLst/>
          </a:prstGeom>
          <a:solidFill>
            <a:srgbClr val="F4F7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" name="Text 10"/>
          <p:cNvSpPr txBox="1"/>
          <p:nvPr/>
        </p:nvSpPr>
        <p:spPr>
          <a:xfrm>
            <a:off x="594360" y="3081528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A2B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openssl s_client 3.6.2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4251960" y="3081528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B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OpenSSL 3.6.2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7635240" y="3081528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0E8C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library as row 3 →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94360" y="3739896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A2B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 3.14.6 ssl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4251960" y="3739896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B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OpenSSL 3.6.2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7635240" y="3739896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0E8C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library, different config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48640" y="4343400"/>
            <a:ext cx="11091672" cy="621792"/>
          </a:xfrm>
          <a:prstGeom prst="rect">
            <a:avLst/>
          </a:prstGeom>
          <a:solidFill>
            <a:srgbClr val="F4F7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9" name="Text 17"/>
          <p:cNvSpPr txBox="1"/>
          <p:nvPr/>
        </p:nvSpPr>
        <p:spPr>
          <a:xfrm>
            <a:off x="594360" y="4398264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A2B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Chrome 151 (headless)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4251960" y="4398264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B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BoringSSL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7635240" y="4398264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0E8C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heavily engineered client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594360" y="5056632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A2B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hand-built ClientHello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4251960" y="5056632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B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7635240" y="5056632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0E8C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socket, no TLS library at all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10725912" y="64008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/ 14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16C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A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Five clients. Five distinct fingerprints.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0116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0E8C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4297680" y="201168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0E8C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TLS LIBRARY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863840" y="201168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0E8C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JA3 HASH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48640" y="2331720"/>
            <a:ext cx="11091672" cy="0"/>
          </a:xfrm>
          <a:prstGeom prst="line">
            <a:avLst/>
          </a:prstGeom>
          <a:noFill/>
          <a:ln w="19050">
            <a:solidFill>
              <a:srgbClr val="DCE6E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 txBox="1"/>
          <p:nvPr/>
        </p:nvSpPr>
        <p:spPr>
          <a:xfrm>
            <a:off x="594360" y="24688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A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curl 8.7.1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4343400" y="246888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B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SecureTransport/LibreSSL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7909560" y="246888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0E8C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375c6162a492…ce8424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48640" y="2999232"/>
            <a:ext cx="11091672" cy="530352"/>
          </a:xfrm>
          <a:prstGeom prst="rect">
            <a:avLst/>
          </a:prstGeom>
          <a:solidFill>
            <a:srgbClr val="E9F8F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" name="Text 10"/>
          <p:cNvSpPr txBox="1"/>
          <p:nvPr/>
        </p:nvSpPr>
        <p:spPr>
          <a:xfrm>
            <a:off x="594360" y="3035808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A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openssl s_client 3.6.2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4343400" y="3035808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B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OpenSSL 3.6.2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7909560" y="3035808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0E8C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0b85eb0d4981…f0ac5f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48640" y="3566160"/>
            <a:ext cx="11091672" cy="530352"/>
          </a:xfrm>
          <a:prstGeom prst="rect">
            <a:avLst/>
          </a:prstGeom>
          <a:solidFill>
            <a:srgbClr val="E9F8F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 txBox="1"/>
          <p:nvPr/>
        </p:nvSpPr>
        <p:spPr>
          <a:xfrm>
            <a:off x="594360" y="3602736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A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3.14.6 ssl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4343400" y="3602736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B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OpenSSL 3.6.2 (same build)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7909560" y="3602736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0E8C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f21f8e6cf70d…ef401c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594360" y="4169664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A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Chrome 151 (headless)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4343400" y="4169664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B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BoringSSL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7909560" y="4169664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0E8C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81a2542af844…f2a626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594360" y="473659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A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hand-built ClientHello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4343400" y="4736592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B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7909560" y="4736592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0E8C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c53113116bb0…6fedc9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48640" y="5806440"/>
            <a:ext cx="11091672" cy="685800"/>
          </a:xfrm>
          <a:prstGeom prst="roundRect">
            <a:avLst>
              <a:gd name="adj" fmla="val 10667"/>
            </a:avLst>
          </a:prstGeom>
          <a:solidFill>
            <a:srgbClr val="0B1F2A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6" name="Text 24"/>
          <p:cNvSpPr txBox="1"/>
          <p:nvPr/>
        </p:nvSpPr>
        <p:spPr>
          <a:xfrm>
            <a:off x="822960" y="580644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openssl and Python use the exact same crypto library</a:t>
            </a:r>
            <a:r>
              <a:rPr lang="en-US" sz="1250" dirty="0">
                <a:solidFill>
                  <a:srgbClr val="AFC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and still get different fingerprints. JA3 reflects configuration, not just which library is linked.</a:t>
            </a:r>
            <a:endParaRPr lang="en-US" sz="1250" dirty="0"/>
          </a:p>
        </p:txBody>
      </p:sp>
      <p:sp>
        <p:nvSpPr>
          <p:cNvPr id="27" name="Text 25"/>
          <p:cNvSpPr txBox="1"/>
          <p:nvPr/>
        </p:nvSpPr>
        <p:spPr>
          <a:xfrm>
            <a:off x="10725912" y="64008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/ 14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16C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UNPLANNED DISCOVERY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A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same Chrome, twice, gave two different answers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2148840"/>
            <a:ext cx="11091672" cy="914400"/>
          </a:xfrm>
          <a:prstGeom prst="roundRect">
            <a:avLst>
              <a:gd name="adj" fmla="val 8000"/>
            </a:avLst>
          </a:prstGeom>
          <a:solidFill>
            <a:srgbClr val="0B1F2A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" name="Text 3"/>
          <p:cNvSpPr txBox="1"/>
          <p:nvPr/>
        </p:nvSpPr>
        <p:spPr>
          <a:xfrm>
            <a:off x="822960" y="2221992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6C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1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5146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81a2542af8442fcd7802f178d9f2a626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548640" y="3291840"/>
            <a:ext cx="11091672" cy="914400"/>
          </a:xfrm>
          <a:prstGeom prst="roundRect">
            <a:avLst>
              <a:gd name="adj" fmla="val 8000"/>
            </a:avLst>
          </a:prstGeom>
          <a:solidFill>
            <a:srgbClr val="0B1F2A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 txBox="1"/>
          <p:nvPr/>
        </p:nvSpPr>
        <p:spPr>
          <a:xfrm>
            <a:off x="822960" y="3364992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6C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2 — same install, moments later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36576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a00e551d2f4af85ede1156537ebf095a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4617720"/>
            <a:ext cx="11064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Modern Chrome deliberately randomizes ClientHello extension order per connection </a:t>
            </a:r>
            <a:r>
              <a:rPr lang="en-US" sz="1500" dirty="0">
                <a:solidFill>
                  <a:srgbClr val="5B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specifically to weaken fingerprinting like JA3. This wasn't just read in a spec — it was reproduced live, by re-running our own experiment.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0725912" y="64008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/ 14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16C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IN RESPONSE — JA4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A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JA4 isolates what actually changed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2057400"/>
            <a:ext cx="5440680" cy="4069080"/>
          </a:xfrm>
          <a:prstGeom prst="roundRect">
            <a:avLst>
              <a:gd name="adj" fmla="val 1798"/>
            </a:avLst>
          </a:prstGeom>
          <a:solidFill>
            <a:srgbClr val="F4F7F8"/>
          </a:solidFill>
          <a:ln w="12700">
            <a:solidFill>
              <a:srgbClr val="DCE6E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" name="Text 3"/>
          <p:cNvSpPr txBox="1"/>
          <p:nvPr/>
        </p:nvSpPr>
        <p:spPr>
          <a:xfrm>
            <a:off x="822960" y="22860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Cipher segment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74320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B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1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01752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E8C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8daaf6152771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61188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B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2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388620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E8C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8daaf6152771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4526280"/>
            <a:ext cx="4937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B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Identical, both runs — JA4 sorts the cipher list before hashing, so pure reordering can't move it.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63640" y="2057400"/>
            <a:ext cx="5440680" cy="4069080"/>
          </a:xfrm>
          <a:prstGeom prst="roundRect">
            <a:avLst>
              <a:gd name="adj" fmla="val 1798"/>
            </a:avLst>
          </a:prstGeom>
          <a:solidFill>
            <a:srgbClr val="F4F7F8"/>
          </a:solidFill>
          <a:ln w="12700">
            <a:solidFill>
              <a:srgbClr val="DCE6E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Text 10"/>
          <p:cNvSpPr txBox="1"/>
          <p:nvPr/>
        </p:nvSpPr>
        <p:spPr>
          <a:xfrm>
            <a:off x="6537960" y="22860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Extension segment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537960" y="274320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B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1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6537960" y="301752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B856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806a8c22fdea  (16 ext)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537960" y="361188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B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2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6537960" y="388620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B856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541cd5a3d78e  (17 ext)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6537960" y="4526280"/>
            <a:ext cx="4937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B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Genuinely different — Chrome sent one extra extension the 2nd time. JA4 reports that honestly instead of hiding it.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10725912" y="64008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/ 14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16C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INDEPENDENT VERIFICATION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A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Cross-checking against Wireshark found our own bug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1732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5B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fingerprint was compared against Wireshark, which implements JA3/JA3S/JA4 independently. It disagreed on exactly one capture.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2103120"/>
            <a:ext cx="11091672" cy="1581694"/>
          </a:xfrm>
          <a:prstGeom prst="roundRect">
            <a:avLst>
              <a:gd name="adj" fmla="val 5333"/>
            </a:avLst>
          </a:prstGeom>
          <a:solidFill>
            <a:srgbClr val="0B1F2A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 txBox="1"/>
          <p:nvPr/>
        </p:nvSpPr>
        <p:spPr>
          <a:xfrm>
            <a:off x="822960" y="221284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6C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tshark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487168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t13d1517h2_8daaf6152771_541cd5a3d78e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926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08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project, before the fix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32004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F0A8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t13d1517h2_8daaf6152771_cb7bf5808d99</a:t>
            </a:r>
            <a:endParaRPr lang="en-US" sz="145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3749040"/>
            <a:ext cx="110642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cause: </a:t>
            </a:r>
            <a:r>
              <a:rPr lang="en-US" sz="1300" dirty="0">
                <a:solidFill>
                  <a:srgbClr val="5B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GREASE values were being stripped from the signature_algorithms list before hashing. The JA4 spec only requires stripping GREASE from the cipher and extension lists — it says nothing about signature algorithms, and Wireshark keeps them. Modern Chrome inserts a GREASE value there, so the two implementations only disagreed on the one capture where that occurs.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5212080"/>
            <a:ext cx="11091672" cy="960120"/>
          </a:xfrm>
          <a:prstGeom prst="roundRect">
            <a:avLst>
              <a:gd name="adj" fmla="val 7619"/>
            </a:avLst>
          </a:prstGeom>
          <a:solidFill>
            <a:srgbClr val="F4F7F8"/>
          </a:solidFill>
          <a:ln w="12700">
            <a:solidFill>
              <a:srgbClr val="DCE6E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Text 10"/>
          <p:cNvSpPr txBox="1"/>
          <p:nvPr/>
        </p:nvSpPr>
        <p:spPr>
          <a:xfrm>
            <a:off x="822960" y="5212080"/>
            <a:ext cx="10515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E8C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matters:  </a:t>
            </a:r>
            <a:r>
              <a:rPr lang="en-US" sz="1250" i="1" dirty="0">
                <a:solidFill>
                  <a:srgbClr val="1A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56 of 61 tests were passing before this fix — including tests built from JA4's own published examples — because none of those examples contains a GREASE signature algorithm. A self-consistent test suite checks that code matches what its author believed the spec said. A second, independent implementation checks the belief itself.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10725912" y="64008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14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16C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FINGERPRINT TO DEFENSE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A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Catching a bot that lies about its identity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63040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cheap trick: </a:t>
            </a:r>
            <a:r>
              <a:rPr lang="en-US" sz="1400" dirty="0">
                <a:solidFill>
                  <a:srgbClr val="5B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the HTTP User-Agent to "Chrome" — one line of code, free to fake. But the TLS ClientHello was already sent, moments earlier, by whichever real library the script actually uses. That handshake is a structural byproduct of the real library, not something typed by hand.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606040"/>
            <a:ext cx="11091672" cy="2331720"/>
          </a:xfrm>
          <a:prstGeom prst="roundRect">
            <a:avLst>
              <a:gd name="adj" fmla="val 3137"/>
            </a:avLst>
          </a:prstGeom>
          <a:solidFill>
            <a:srgbClr val="0B1F2A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 txBox="1"/>
          <p:nvPr/>
        </p:nvSpPr>
        <p:spPr>
          <a:xfrm>
            <a:off x="868680" y="2788920"/>
            <a:ext cx="105156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9BEF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tls-fingerprint check-spoofing pcaps/bot_client.pcap --claims Chrome</a:t>
            </a:r>
            <a:endParaRPr lang="en-US" sz="1350" dirty="0"/>
          </a:p>
          <a:p>
            <a:pPr marL="0" indent="0">
              <a:lnSpc>
                <a:spcPct val="120000"/>
              </a:lnSpc>
              <a:buNone/>
            </a:pPr>
            <a:endParaRPr lang="en-US" sz="13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9BEF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Claims to be:   Chrome</a:t>
            </a:r>
            <a:endParaRPr lang="en-US" sz="13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9BEF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Measured JA3:   f21f8e6cf70d5980ecfe9fa2e0ef401c</a:t>
            </a:r>
            <a:endParaRPr lang="en-US" sz="1350" dirty="0"/>
          </a:p>
          <a:p>
            <a:pPr marL="0" indent="0">
              <a:lnSpc>
                <a:spcPct val="120000"/>
              </a:lnSpc>
              <a:buNone/>
            </a:pPr>
            <a:endParaRPr lang="en-US" sz="13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9BEF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VERDICT: *** MISMATCH — SUSPICIOUS ***</a:t>
            </a:r>
            <a:endParaRPr lang="en-US" sz="13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9BEF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matches: Python 3.14.6 stdlib ssl (ssl.create_default_context)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48640" y="5212080"/>
            <a:ext cx="5394960" cy="1051560"/>
          </a:xfrm>
          <a:prstGeom prst="roundRect">
            <a:avLst>
              <a:gd name="adj" fmla="val 6957"/>
            </a:avLst>
          </a:prstGeom>
          <a:solidFill>
            <a:srgbClr val="F4F7F8"/>
          </a:solidFill>
          <a:ln w="12700">
            <a:solidFill>
              <a:srgbClr val="DCE6E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 txBox="1"/>
          <p:nvPr/>
        </p:nvSpPr>
        <p:spPr>
          <a:xfrm>
            <a:off x="777240" y="530352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E8C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 / 5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2651760" y="5303520"/>
            <a:ext cx="3200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B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rapid repeated requests, all correctly flagged — each connection judged on its own handshake, no threshold to slip under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080760" y="5212080"/>
            <a:ext cx="5559552" cy="1051560"/>
          </a:xfrm>
          <a:prstGeom prst="roundRect">
            <a:avLst>
              <a:gd name="adj" fmla="val 6957"/>
            </a:avLst>
          </a:prstGeom>
          <a:solidFill>
            <a:srgbClr val="F4F7F8"/>
          </a:solidFill>
          <a:ln w="12700">
            <a:solidFill>
              <a:srgbClr val="DCE6E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Text 9"/>
          <p:cNvSpPr txBox="1"/>
          <p:nvPr/>
        </p:nvSpPr>
        <p:spPr>
          <a:xfrm>
            <a:off x="6309360" y="5212080"/>
            <a:ext cx="5120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5B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botnets spread requests across many IPs to dodge rate limits — that trick doesn't help here, since the source address isn't part of what's compared.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10725912" y="64008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14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16C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 CAPTURES WERE MADE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A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root access — so a relay stood in for a network tap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6304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5B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capture off a real network interface needs root, which wasn't available in this environment. A local TCP relay was used instead.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2194560"/>
            <a:ext cx="2834640" cy="1005840"/>
          </a:xfrm>
          <a:prstGeom prst="roundRect">
            <a:avLst>
              <a:gd name="adj" fmla="val 7273"/>
            </a:avLst>
          </a:prstGeom>
          <a:solidFill>
            <a:srgbClr val="F4F7F8"/>
          </a:solidFill>
          <a:ln w="12700">
            <a:solidFill>
              <a:srgbClr val="DCE6E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 txBox="1"/>
          <p:nvPr/>
        </p:nvSpPr>
        <p:spPr>
          <a:xfrm>
            <a:off x="685800" y="2194560"/>
            <a:ext cx="2560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1A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</a:t>
            </a:r>
            <a:endParaRPr lang="en-US" sz="1150" dirty="0"/>
          </a:p>
          <a:p>
            <a:pPr marL="0" indent="0" algn="ctr">
              <a:buNone/>
            </a:pPr>
            <a:r>
              <a:rPr lang="en-US" sz="1150" dirty="0">
                <a:solidFill>
                  <a:srgbClr val="1A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(curl / openssl / Python / Chrome)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3383280" y="2606040"/>
            <a:ext cx="1261872" cy="182880"/>
          </a:xfrm>
          <a:prstGeom prst="rightArrow">
            <a:avLst/>
          </a:prstGeom>
          <a:solidFill>
            <a:srgbClr val="16C0A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Shape 6"/>
          <p:cNvSpPr/>
          <p:nvPr/>
        </p:nvSpPr>
        <p:spPr>
          <a:xfrm>
            <a:off x="4663440" y="2194560"/>
            <a:ext cx="2834640" cy="1005840"/>
          </a:xfrm>
          <a:prstGeom prst="roundRect">
            <a:avLst>
              <a:gd name="adj" fmla="val 7273"/>
            </a:avLst>
          </a:prstGeom>
          <a:solidFill>
            <a:srgbClr val="0B1F2A"/>
          </a:solidFill>
          <a:ln w="12700">
            <a:solidFill>
              <a:srgbClr val="0B1F2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" name="Text 7"/>
          <p:cNvSpPr txBox="1"/>
          <p:nvPr/>
        </p:nvSpPr>
        <p:spPr>
          <a:xfrm>
            <a:off x="4800600" y="2194560"/>
            <a:ext cx="2560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capture_proxy.py</a:t>
            </a:r>
            <a:endParaRPr lang="en-US" sz="1150" dirty="0"/>
          </a:p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forwards bytes unmodified,</a:t>
            </a:r>
            <a:endParaRPr lang="en-US" sz="1150" dirty="0"/>
          </a:p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keeps a copy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498080" y="2606040"/>
            <a:ext cx="1261872" cy="182880"/>
          </a:xfrm>
          <a:prstGeom prst="rightArrow">
            <a:avLst/>
          </a:prstGeom>
          <a:solidFill>
            <a:srgbClr val="16C0A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" name="Shape 9"/>
          <p:cNvSpPr/>
          <p:nvPr/>
        </p:nvSpPr>
        <p:spPr>
          <a:xfrm>
            <a:off x="8778240" y="2194560"/>
            <a:ext cx="2834640" cy="1005840"/>
          </a:xfrm>
          <a:prstGeom prst="roundRect">
            <a:avLst>
              <a:gd name="adj" fmla="val 7273"/>
            </a:avLst>
          </a:prstGeom>
          <a:solidFill>
            <a:srgbClr val="F4F7F8"/>
          </a:solidFill>
          <a:ln w="12700">
            <a:solidFill>
              <a:srgbClr val="DCE6E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Text 10"/>
          <p:cNvSpPr txBox="1"/>
          <p:nvPr/>
        </p:nvSpPr>
        <p:spPr>
          <a:xfrm>
            <a:off x="8915400" y="2194560"/>
            <a:ext cx="2560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1A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server</a:t>
            </a:r>
            <a:endParaRPr lang="en-US" sz="1150" dirty="0"/>
          </a:p>
          <a:p>
            <a:pPr marL="0" indent="0" algn="ctr">
              <a:buNone/>
            </a:pPr>
            <a:r>
              <a:rPr lang="en-US" sz="1150" dirty="0">
                <a:solidFill>
                  <a:srgbClr val="1A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(example.com, Cloudflare)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989320" y="3246120"/>
            <a:ext cx="182880" cy="365760"/>
          </a:xfrm>
          <a:prstGeom prst="downArrow">
            <a:avLst/>
          </a:prstGeom>
          <a:solidFill>
            <a:srgbClr val="16C0A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4" name="Shape 12"/>
          <p:cNvSpPr/>
          <p:nvPr/>
        </p:nvSpPr>
        <p:spPr>
          <a:xfrm>
            <a:off x="4892040" y="3657600"/>
            <a:ext cx="2377440" cy="502920"/>
          </a:xfrm>
          <a:prstGeom prst="roundRect">
            <a:avLst>
              <a:gd name="adj" fmla="val 10909"/>
            </a:avLst>
          </a:prstGeom>
          <a:solidFill>
            <a:srgbClr val="F4F7F8"/>
          </a:solidFill>
          <a:ln w="12700">
            <a:solidFill>
              <a:srgbClr val="DCE6E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" name="Text 13"/>
          <p:cNvSpPr txBox="1"/>
          <p:nvPr/>
        </p:nvSpPr>
        <p:spPr>
          <a:xfrm>
            <a:off x="4892040" y="365760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0E8C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.pcap file written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48640" y="4709160"/>
            <a:ext cx="11091672" cy="1051560"/>
          </a:xfrm>
          <a:prstGeom prst="roundRect">
            <a:avLst>
              <a:gd name="adj" fmla="val 6957"/>
            </a:avLst>
          </a:prstGeom>
          <a:solidFill>
            <a:srgbClr val="F4F7F8"/>
          </a:solidFill>
          <a:ln w="12700">
            <a:solidFill>
              <a:srgbClr val="DCE6E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7" name="Text 15"/>
          <p:cNvSpPr txBox="1"/>
          <p:nvPr/>
        </p:nvSpPr>
        <p:spPr>
          <a:xfrm>
            <a:off x="822960" y="4709160"/>
            <a:ext cx="10515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doesn't weaken the result: </a:t>
            </a:r>
            <a:r>
              <a:rPr lang="en-US" sz="1200" dirty="0">
                <a:solidFill>
                  <a:srgbClr val="5B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TLS bytes are exactly what the client sent and the server returned, and certificate validation succeeded end to end on every capture. Only the packet framing is synthetic — each file holds one packet per direction rather than a full TCP conversation, and every database entry records this in its source field.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48640" y="5943600"/>
            <a:ext cx="11091672" cy="502920"/>
          </a:xfrm>
          <a:prstGeom prst="roundRect">
            <a:avLst>
              <a:gd name="adj" fmla="val 10909"/>
            </a:avLst>
          </a:prstGeom>
          <a:solidFill>
            <a:srgbClr val="FCEFE7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9" name="Text 17"/>
          <p:cNvSpPr txBox="1"/>
          <p:nvPr/>
        </p:nvSpPr>
        <p:spPr>
          <a:xfrm>
            <a:off x="822960" y="5943600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8A4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analysis pipeline itself has no such limitation — it reads ordinary captures, including segmented handshakes and out-of-order delivery, unchanged.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10725912" y="64008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14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16C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THIS DOESN'T PROVE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A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fingerprint is a hint, not a verdict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2103120"/>
            <a:ext cx="3429000" cy="1783080"/>
          </a:xfrm>
          <a:prstGeom prst="roundRect">
            <a:avLst>
              <a:gd name="adj" fmla="val 4103"/>
            </a:avLst>
          </a:prstGeom>
          <a:solidFill>
            <a:srgbClr val="F4F7F8"/>
          </a:solidFill>
          <a:ln w="12700">
            <a:solidFill>
              <a:srgbClr val="DCE6E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" name="Text 3"/>
          <p:cNvSpPr txBox="1"/>
          <p:nvPr/>
        </p:nvSpPr>
        <p:spPr>
          <a:xfrm>
            <a:off x="777240" y="226771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6C0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697480"/>
            <a:ext cx="2971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hash ≠ same software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3182112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B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unrelated programs on the same library and config fingerprint identically.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160520" y="2103120"/>
            <a:ext cx="3429000" cy="1783080"/>
          </a:xfrm>
          <a:prstGeom prst="roundRect">
            <a:avLst>
              <a:gd name="adj" fmla="val 4103"/>
            </a:avLst>
          </a:prstGeom>
          <a:solidFill>
            <a:srgbClr val="F4F7F8"/>
          </a:solidFill>
          <a:ln w="12700">
            <a:solidFill>
              <a:srgbClr val="DCE6E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" name="Text 7"/>
          <p:cNvSpPr txBox="1"/>
          <p:nvPr/>
        </p:nvSpPr>
        <p:spPr>
          <a:xfrm>
            <a:off x="4389120" y="226771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6C0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4389120" y="2697480"/>
            <a:ext cx="2971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JA3S depends on the client, too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4389120" y="3182112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B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of our own clients produced an identical JA3S against the same server.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7772400" y="2103120"/>
            <a:ext cx="3429000" cy="1783080"/>
          </a:xfrm>
          <a:prstGeom prst="roundRect">
            <a:avLst>
              <a:gd name="adj" fmla="val 4103"/>
            </a:avLst>
          </a:prstGeom>
          <a:solidFill>
            <a:srgbClr val="F4F7F8"/>
          </a:solidFill>
          <a:ln w="12700">
            <a:solidFill>
              <a:srgbClr val="DCE6E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 txBox="1"/>
          <p:nvPr/>
        </p:nvSpPr>
        <p:spPr>
          <a:xfrm>
            <a:off x="8001000" y="226771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6C0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8001000" y="2697480"/>
            <a:ext cx="2971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GREASE and reordering fight back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8001000" y="3182112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B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Chrome randomizes its own hello on purpose, specifically to weaken this technique.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48640" y="4069080"/>
            <a:ext cx="3429000" cy="1783080"/>
          </a:xfrm>
          <a:prstGeom prst="roundRect">
            <a:avLst>
              <a:gd name="adj" fmla="val 4103"/>
            </a:avLst>
          </a:prstGeom>
          <a:solidFill>
            <a:srgbClr val="F4F7F8"/>
          </a:solidFill>
          <a:ln w="12700">
            <a:solidFill>
              <a:srgbClr val="DCE6E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7" name="Text 15"/>
          <p:cNvSpPr txBox="1"/>
          <p:nvPr/>
        </p:nvSpPr>
        <p:spPr>
          <a:xfrm>
            <a:off x="777240" y="423367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6C0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777240" y="4663440"/>
            <a:ext cx="2971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Evasion is possible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777240" y="5148072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B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fingerprint is entirely client-controlled bytes — a determined attacker can copy it exactly.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160520" y="4069080"/>
            <a:ext cx="3429000" cy="1783080"/>
          </a:xfrm>
          <a:prstGeom prst="roundRect">
            <a:avLst>
              <a:gd name="adj" fmla="val 4103"/>
            </a:avLst>
          </a:prstGeom>
          <a:solidFill>
            <a:srgbClr val="F4F7F8"/>
          </a:solidFill>
          <a:ln w="12700">
            <a:solidFill>
              <a:srgbClr val="DCE6E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Text 19"/>
          <p:cNvSpPr txBox="1"/>
          <p:nvPr/>
        </p:nvSpPr>
        <p:spPr>
          <a:xfrm>
            <a:off x="4389120" y="423367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6C0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2000" dirty="0"/>
          </a:p>
        </p:txBody>
      </p:sp>
      <p:sp>
        <p:nvSpPr>
          <p:cNvPr id="22" name="Text 20"/>
          <p:cNvSpPr txBox="1"/>
          <p:nvPr/>
        </p:nvSpPr>
        <p:spPr>
          <a:xfrm>
            <a:off x="4389120" y="4663440"/>
            <a:ext cx="2971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here decrypts anything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4389120" y="5148072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B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the already-unencrypted handshake preamble is ever read.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7772400" y="4069080"/>
            <a:ext cx="3429000" cy="1783080"/>
          </a:xfrm>
          <a:prstGeom prst="roundRect">
            <a:avLst>
              <a:gd name="adj" fmla="val 4103"/>
            </a:avLst>
          </a:prstGeom>
          <a:solidFill>
            <a:srgbClr val="F4F7F8"/>
          </a:solidFill>
          <a:ln w="12700">
            <a:solidFill>
              <a:srgbClr val="DCE6E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5" name="Text 23"/>
          <p:cNvSpPr txBox="1"/>
          <p:nvPr/>
        </p:nvSpPr>
        <p:spPr>
          <a:xfrm>
            <a:off x="8001000" y="423367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6C0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2000" dirty="0"/>
          </a:p>
        </p:txBody>
      </p:sp>
      <p:sp>
        <p:nvSpPr>
          <p:cNvPr id="26" name="Text 24"/>
          <p:cNvSpPr txBox="1"/>
          <p:nvPr/>
        </p:nvSpPr>
        <p:spPr>
          <a:xfrm>
            <a:off x="8001000" y="4663440"/>
            <a:ext cx="2971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Fingerprints drift over time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8001000" y="5148072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B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Library and OS updates move a program to a new hash, so every entry records date and platform.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10725912" y="64008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14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16C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SUMMARY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A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Built, tested, and proven against real traffic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544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5B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hash on every slide came from a real handshake with a real server — none of it invented.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468880"/>
            <a:ext cx="3520440" cy="1645920"/>
          </a:xfrm>
          <a:prstGeom prst="roundRect">
            <a:avLst>
              <a:gd name="adj" fmla="val 4444"/>
            </a:avLst>
          </a:prstGeom>
          <a:solidFill>
            <a:srgbClr val="0B1F2A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 txBox="1"/>
          <p:nvPr/>
        </p:nvSpPr>
        <p:spPr>
          <a:xfrm>
            <a:off x="731520" y="2606040"/>
            <a:ext cx="3108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600" b="1" dirty="0">
                <a:solidFill>
                  <a:srgbClr val="16C0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</a:t>
            </a:r>
            <a:endParaRPr lang="en-US" sz="46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347472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AFC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DB entries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297680" y="2468880"/>
            <a:ext cx="3520440" cy="1645920"/>
          </a:xfrm>
          <a:prstGeom prst="roundRect">
            <a:avLst>
              <a:gd name="adj" fmla="val 4444"/>
            </a:avLst>
          </a:prstGeom>
          <a:solidFill>
            <a:srgbClr val="0B1F2A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" name="Text 7"/>
          <p:cNvSpPr txBox="1"/>
          <p:nvPr/>
        </p:nvSpPr>
        <p:spPr>
          <a:xfrm>
            <a:off x="4480560" y="2606040"/>
            <a:ext cx="3108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600" b="1" dirty="0">
                <a:solidFill>
                  <a:srgbClr val="16C0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61</a:t>
            </a:r>
            <a:endParaRPr lang="en-US" sz="4600" dirty="0"/>
          </a:p>
        </p:txBody>
      </p:sp>
      <p:sp>
        <p:nvSpPr>
          <p:cNvPr id="10" name="Text 8"/>
          <p:cNvSpPr txBox="1"/>
          <p:nvPr/>
        </p:nvSpPr>
        <p:spPr>
          <a:xfrm>
            <a:off x="4480560" y="347472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AFC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tests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8046720" y="2468880"/>
            <a:ext cx="3520440" cy="1645920"/>
          </a:xfrm>
          <a:prstGeom prst="roundRect">
            <a:avLst>
              <a:gd name="adj" fmla="val 4444"/>
            </a:avLst>
          </a:prstGeom>
          <a:solidFill>
            <a:srgbClr val="0B1F2A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" name="Text 10"/>
          <p:cNvSpPr txBox="1"/>
          <p:nvPr/>
        </p:nvSpPr>
        <p:spPr>
          <a:xfrm>
            <a:off x="8229600" y="2606040"/>
            <a:ext cx="3108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600" b="1" dirty="0">
                <a:solidFill>
                  <a:srgbClr val="16C0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4600" dirty="0"/>
          </a:p>
        </p:txBody>
      </p:sp>
      <p:sp>
        <p:nvSpPr>
          <p:cNvPr id="13" name="Text 11"/>
          <p:cNvSpPr txBox="1"/>
          <p:nvPr/>
        </p:nvSpPr>
        <p:spPr>
          <a:xfrm>
            <a:off x="8229600" y="347472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AFC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experiments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48640" y="4300946"/>
            <a:ext cx="11091672" cy="0"/>
          </a:xfrm>
          <a:prstGeom prst="line">
            <a:avLst/>
          </a:prstGeom>
          <a:noFill/>
          <a:ln w="12700">
            <a:solidFill>
              <a:srgbClr val="DCE6E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" name="Text 13"/>
          <p:cNvSpPr txBox="1"/>
          <p:nvPr/>
        </p:nvSpPr>
        <p:spPr>
          <a:xfrm>
            <a:off x="1522476" y="516636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400" dirty="0">
                <a:solidFill>
                  <a:srgbClr val="5B7580"/>
                </a:solidFill>
                <a:latin typeface="Aharoni" panose="02010803020104030203" pitchFamily="2" charset="-79"/>
                <a:ea typeface="Calibri" pitchFamily="34" charset="-122"/>
                <a:cs typeface="Aharoni" panose="02010803020104030203" pitchFamily="2" charset="-79"/>
              </a:rPr>
              <a:t>Thank You!</a:t>
            </a:r>
            <a:endParaRPr lang="en-US" sz="4400" dirty="0">
              <a:latin typeface="Aharoni" panose="02010803020104030203" pitchFamily="2" charset="-79"/>
              <a:cs typeface="Aharoni" panose="02010803020104030203" pitchFamily="2" charset="-79"/>
            </a:endParaRPr>
          </a:p>
        </p:txBody>
      </p:sp>
      <p:sp>
        <p:nvSpPr>
          <p:cNvPr id="16" name="Text 14"/>
          <p:cNvSpPr txBox="1"/>
          <p:nvPr/>
        </p:nvSpPr>
        <p:spPr>
          <a:xfrm>
            <a:off x="10725912" y="64008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14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1523</Words>
  <Application>Microsoft Office PowerPoint</Application>
  <PresentationFormat>Widescreen</PresentationFormat>
  <Paragraphs>212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20" baseType="lpstr">
      <vt:lpstr>Aharoni</vt:lpstr>
      <vt:lpstr>Arial</vt:lpstr>
      <vt:lpstr>Calibri</vt:lpstr>
      <vt:lpstr>Cambria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Miloni Dipak Thakkar</cp:lastModifiedBy>
  <cp:revision>2</cp:revision>
  <dcterms:created xsi:type="dcterms:W3CDTF">2026-09-05T11:00:16Z</dcterms:created>
  <dcterms:modified xsi:type="dcterms:W3CDTF">2026-09-05T11:04:30Z</dcterms:modified>
</cp:coreProperties>
</file>