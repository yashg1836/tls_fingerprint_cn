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01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COMPUTER NETWORKS — COURSE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6888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EDEFF4"/>
                </a:solidFill>
                <a:latin typeface="Calibri"/>
              </a:rPr>
              <a:t>TLS Fingerprinting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429000"/>
            <a:ext cx="8686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9AA3B5"/>
                </a:solidFill>
                <a:latin typeface="Calibri"/>
              </a:rPr>
              <a:t>Identifying who's really on the other end of an HTTPS connection — without decrypting anything.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34340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8A33D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9377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3B5"/>
                </a:solidFill>
                <a:latin typeface="Calibri"/>
              </a:rPr>
              <a:t>real clients captured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434340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8A33D"/>
                </a:solidFill>
                <a:latin typeface="Calibri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49377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3B5"/>
                </a:solidFill>
                <a:latin typeface="Calibri"/>
              </a:rPr>
              <a:t>database entries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434340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8A33D"/>
                </a:solidFill>
                <a:latin typeface="Calibri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49377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3B5"/>
                </a:solidFill>
                <a:latin typeface="Calibri"/>
              </a:rPr>
              <a:t>fabricated results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02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DEFF4"/>
                </a:solidFill>
                <a:latin typeface="Calibri"/>
              </a:rPr>
              <a:t>Once HTTPS starts, a server can't read what's inside.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9875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Almost all internet traffic today is encrypted (HTTPS/TLS).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99232"/>
            <a:ext cx="9875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A bot pretending to be a browser, a scraper, or malware talking to its C2 server — all look like ordinary encrypted traffic.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712464"/>
            <a:ext cx="9875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Firewalls and monitors can no longer read URLs, headers, or payloads.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25696"/>
            <a:ext cx="9875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Question: can we tell WHO is really connecting, without breaking encryption for anyone?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03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WHAT ALREADY EXISTS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DEFF4"/>
                </a:solidFill>
                <a:latin typeface="Calibri"/>
              </a:rPr>
              <a:t>JA3 / JA3S: a published fingerprinting technique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9875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700">
                <a:solidFill>
                  <a:srgbClr val="9AA3B5"/>
                </a:solidFill>
                <a:latin typeface="Calibri"/>
              </a:rPr>
              <a:t>•  Right before encryption locks in, both sides send ONE message each in plain text: the "ClientHello" and "ServerHello".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99232"/>
            <a:ext cx="9875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700">
                <a:solidFill>
                  <a:srgbClr val="9AA3B5"/>
                </a:solidFill>
                <a:latin typeface="Calibri"/>
              </a:rPr>
              <a:t>•  Every TLS library (Chrome, curl, OpenSSL...) builds this handshake slightly differently — different ciphers, different order.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712464"/>
            <a:ext cx="9875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700">
                <a:solidFill>
                  <a:srgbClr val="9AA3B5"/>
                </a:solidFill>
                <a:latin typeface="Calibri"/>
              </a:rPr>
              <a:t>•  JA3 (Salesforce, 2017) turns a ClientHello into one short hash. JA3S does the same for a ServerHello.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25696"/>
            <a:ext cx="9875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700">
                <a:solidFill>
                  <a:srgbClr val="9AA3B5"/>
                </a:solidFill>
                <a:latin typeface="Calibri"/>
              </a:rPr>
              <a:t>•  This is a real, industry-standard technique — not something we invented for this project.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04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PROJECT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DEFF4"/>
                </a:solidFill>
                <a:latin typeface="Calibri"/>
              </a:rPr>
              <a:t>What we were asked to implement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03120"/>
            <a:ext cx="9875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Passively capture TLS handshakes (ClientHello / ServerHello)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24912"/>
            <a:ext cx="9875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Compute JA3 (client) and JA3S (server) fingerprints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46704"/>
            <a:ext cx="9875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Build a small reference database of known fingerprints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68496"/>
            <a:ext cx="9875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Match a new capture against that database and identify the client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90288"/>
            <a:ext cx="9875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Demonstrate on at least 5 real, distinct clients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212080"/>
            <a:ext cx="9875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Explain the security use case AND the honest limitations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05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HOW IT'S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EDEFF4"/>
                </a:solidFill>
                <a:latin typeface="Calibri"/>
              </a:rPr>
              <a:t>The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834640"/>
            <a:ext cx="1874519" cy="82296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EDEFF4"/>
                </a:solidFill>
                <a:latin typeface="Consolas"/>
              </a:rPr>
              <a:t>.pcap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19" y="3035808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9728A"/>
                </a:solidFill>
                <a:latin typeface="Consolas"/>
              </a:rPr>
              <a:t>-&gt;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88919" y="2834640"/>
            <a:ext cx="1874519" cy="82296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EDEFF4"/>
                </a:solidFill>
                <a:latin typeface="Consolas"/>
              </a:rPr>
              <a:t>parser.py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38" y="3035808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9728A"/>
                </a:solidFill>
                <a:latin typeface="Consolas"/>
              </a:rPr>
              <a:t>-&gt;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38" y="2834640"/>
            <a:ext cx="1874519" cy="82296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EDEFF4"/>
                </a:solidFill>
                <a:latin typeface="Consolas"/>
              </a:rPr>
              <a:t>JA3 / JA3S / JA4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57" y="3035808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9728A"/>
                </a:solidFill>
                <a:latin typeface="Consolas"/>
              </a:rPr>
              <a:t>-&gt;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95157" y="2834640"/>
            <a:ext cx="1874519" cy="82296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EDEFF4"/>
                </a:solidFill>
                <a:latin typeface="Consolas"/>
              </a:rPr>
              <a:t>database.py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76" y="3035808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9728A"/>
                </a:solidFill>
                <a:latin typeface="Consolas"/>
              </a:rPr>
              <a:t>-&gt;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276" y="2834640"/>
            <a:ext cx="1874519" cy="82296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EDEFF4"/>
                </a:solidFill>
                <a:latin typeface="Consolas"/>
              </a:rPr>
              <a:t>CLI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1480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9AA3B5"/>
                </a:solidFill>
                <a:latin typeface="Calibri"/>
              </a:rPr>
              <a:t>Every stage is a separate, independently-tested Python module — the handshake is parsed byte-by-byte against the real TLS spec, not guessed.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06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BEFORE TRUSTING ANY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EDEFF4"/>
                </a:solidFill>
                <a:latin typeface="Calibri"/>
              </a:rPr>
              <a:t>61 automated tests — what they actually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9875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>
                <a:solidFill>
                  <a:srgbClr val="9AA3B5"/>
                </a:solidFill>
                <a:latin typeface="Calibri"/>
              </a:rPr>
              <a:t>•  JA3 / JA3S string construction, checked against hand-derived expected values (not just checked against itself).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70632"/>
            <a:ext cx="9875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>
                <a:solidFill>
                  <a:srgbClr val="9AA3B5"/>
                </a:solidFill>
                <a:latin typeface="Calibri"/>
              </a:rPr>
              <a:t>•  JA4, checked against the official FoxIO spec's own published worked examples — an external ground truth.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92424"/>
            <a:ext cx="9875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>
                <a:solidFill>
                  <a:srgbClr val="9AA3B5"/>
                </a:solidFill>
                <a:latin typeface="Calibri"/>
              </a:rPr>
              <a:t>•  Parser edge cases: truncated records, GREASE-only cipher lists, a handshake split across multiple TLS records.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14216"/>
            <a:ext cx="9875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>
                <a:solidFill>
                  <a:srgbClr val="9AA3B5"/>
                </a:solidFill>
                <a:latin typeface="Calibri"/>
              </a:rPr>
              <a:t>•  Database matching logic (known / possible / unknown) and the spoofing-detector's mismatch logic.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36008"/>
            <a:ext cx="9875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>
                <a:solidFill>
                  <a:srgbClr val="9AA3B5"/>
                </a:solidFill>
                <a:latin typeface="Calibri"/>
              </a:rPr>
              <a:t>•  One end-to-end test: build a synthetic pcap, run the full pipeline, check the final answer.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0644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9728A"/>
                </a:solidFill>
                <a:latin typeface="Calibri"/>
              </a:rPr>
              <a:t>Runs offline in under a second, no network needed — this is what's checked BEFORE any real capture is trusted.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07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REFERENCE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DEFF4"/>
                </a:solidFill>
                <a:latin typeface="Calibri"/>
              </a:rPr>
              <a:t>A notebook of known fingerprints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9875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9AA3B5"/>
                </a:solidFill>
                <a:latin typeface="Calibri"/>
              </a:rPr>
              <a:t>Every entry was computed from a real, captured network connection — never typed by hand or copied from a public list.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926080"/>
            <a:ext cx="10515600" cy="265176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69728A"/>
                </a:solidFill>
                <a:latin typeface="Consolas"/>
              </a:rPr>
              <a:t>tls-fingerprint db list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EDEFF4"/>
                </a:solidFill>
                <a:latin typeface="Consolas"/>
              </a:rPr>
              <a:t>[ja3]  curl 8.7.1 (macOS system, SecureTransport/LibreSSL)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EDEFF4"/>
                </a:solidFill>
                <a:latin typeface="Consolas"/>
              </a:rPr>
              <a:t>[ja4]  curl 8.7.1 (macOS system, SecureTransport/LibreSSL)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9AA3B5"/>
                </a:solidFill>
                <a:latin typeface="Consolas"/>
              </a:rPr>
              <a:t>[ja3s] Cloudflare edge (fronting example.com)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EDEFF4"/>
                </a:solidFill>
                <a:latin typeface="Consolas"/>
              </a:rPr>
              <a:t>[ja3]  Google Chrome 151.0.7922.174 (headless)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EDEFF4"/>
                </a:solidFill>
                <a:latin typeface="Consolas"/>
              </a:rPr>
              <a:t>[ja4]  Google Chrome 151.0.7922.174 (headless)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69728A"/>
                </a:solidFill>
                <a:latin typeface="Consolas"/>
              </a:rPr>
              <a:t>... 15 entries total: 5 clients x (JA3 + JA4 + JA3S)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08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EDEFF4"/>
                </a:solidFill>
                <a:latin typeface="Calibri"/>
              </a:rPr>
              <a:t>Five different clients. Five different fingerprints.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286000"/>
          <a:ext cx="10515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724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9728A"/>
                          </a:solidFill>
                          <a:latin typeface="Consolas"/>
                        </a:rPr>
                        <a:t>Client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9728A"/>
                          </a:solidFill>
                          <a:latin typeface="Consolas"/>
                        </a:rPr>
                        <a:t>TLS library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9728A"/>
                          </a:solidFill>
                          <a:latin typeface="Consolas"/>
                        </a:rPr>
                        <a:t>JA3 hash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DEFF4"/>
                          </a:solidFill>
                          <a:latin typeface="Calibri"/>
                        </a:rPr>
                        <a:t>curl 8.7.1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Consolas"/>
                        </a:rPr>
                        <a:t>SecureTransport / LibreSSL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Consolas"/>
                        </a:rPr>
                        <a:t>375c6162a492...ce8424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DEFF4"/>
                          </a:solidFill>
                          <a:latin typeface="Calibri"/>
                        </a:rPr>
                        <a:t>openssl s_client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Consolas"/>
                        </a:rPr>
                        <a:t>OpenSSL 3.6.2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Consolas"/>
                        </a:rPr>
                        <a:t>0b85eb0d4981...f0ac5f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DEFF4"/>
                          </a:solidFill>
                          <a:latin typeface="Calibri"/>
                        </a:rPr>
                        <a:t>Python stdlib ssl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Consolas"/>
                        </a:rPr>
                        <a:t>OpenSSL 3.6.2 (same lib!)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Consolas"/>
                        </a:rPr>
                        <a:t>f21f8e6cf70d...ef401c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DEFF4"/>
                          </a:solidFill>
                          <a:latin typeface="Calibri"/>
                        </a:rPr>
                        <a:t>Chrome 151 (headless)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Consolas"/>
                        </a:rPr>
                        <a:t>BoringSSL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Consolas"/>
                        </a:rPr>
                        <a:t>81a2542af844...f2a626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DEFF4"/>
                          </a:solidFill>
                          <a:latin typeface="Calibri"/>
                        </a:rPr>
                        <a:t>Hand-built ClientHello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Consolas"/>
                        </a:rPr>
                        <a:t>none — raw socket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Consolas"/>
                        </a:rPr>
                        <a:t>c53113116bb0...6fedc9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48640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9728A"/>
                </a:solidFill>
                <a:latin typeface="Calibri"/>
              </a:rPr>
              <a:t>openssl and Python use the exact same crypto library and still get different fingerprints — JA3 reflects configuration, not just which library is linked.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09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AN UNPLANNED DISCOVERY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EDEFF4"/>
                </a:solidFill>
                <a:latin typeface="Calibri"/>
              </a:rPr>
              <a:t>The same Chrome, twice, gave two different answers.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7744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69728A"/>
                </a:solidFill>
                <a:latin typeface="Consolas"/>
              </a:rPr>
              <a:t>Run 1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400" b="0">
                <a:solidFill>
                  <a:srgbClr val="EDEFF4"/>
                </a:solidFill>
                <a:latin typeface="Consolas"/>
              </a:rPr>
              <a:t>81a2542af8442fcd7802f178d9f2a626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237744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69728A"/>
                </a:solidFill>
                <a:latin typeface="Consolas"/>
              </a:rPr>
              <a:t>Run 2 — same install, moments later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400" b="1">
                <a:solidFill>
                  <a:srgbClr val="F16A54"/>
                </a:solidFill>
                <a:latin typeface="Consolas"/>
              </a:rPr>
              <a:t>a00e551d2f4af85ede1156537ebf095a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206240"/>
            <a:ext cx="9875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9AA3B5"/>
                </a:solidFill>
                <a:latin typeface="Calibri"/>
              </a:rPr>
              <a:t>Modern Chrome deliberately randomizes ClientHello extension order per connection, specifically to weaken fingerprinting like this. We didn't just read that fact — we reproduced it live, re-running our own experiment.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10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BUILT IN RESPONSE — JA4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EDEFF4"/>
                </a:solidFill>
                <a:latin typeface="Calibri"/>
              </a:rPr>
              <a:t>JA4: a newer fingerprint that isolates what actually changed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77440"/>
            <a:ext cx="5120640" cy="265176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69728A"/>
                </a:solidFill>
                <a:latin typeface="Consolas"/>
              </a:rPr>
              <a:t>Cipher segment (JA4)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500" b="1">
                <a:solidFill>
                  <a:srgbClr val="49C79A"/>
                </a:solidFill>
                <a:latin typeface="Consolas"/>
              </a:rPr>
              <a:t>8daaf6152771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500" b="1">
                <a:solidFill>
                  <a:srgbClr val="49C79A"/>
                </a:solidFill>
                <a:latin typeface="Consolas"/>
              </a:rPr>
              <a:t>8daaf6152771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69728A"/>
                </a:solidFill>
                <a:latin typeface="Calibri"/>
              </a:rPr>
              <a:t>Identical, both runs — JA4 sorts the</a:t>
            </a:r>
            <a:br/>
            <a:r>
              <a:rPr sz="1200" b="0">
                <a:solidFill>
                  <a:srgbClr val="69728A"/>
                </a:solidFill>
                <a:latin typeface="Calibri"/>
              </a:rPr>
              <a:t>cipher list before hashing, so pure</a:t>
            </a:r>
            <a:br/>
            <a:r>
              <a:rPr sz="1200" b="0">
                <a:solidFill>
                  <a:srgbClr val="69728A"/>
                </a:solidFill>
                <a:latin typeface="Calibri"/>
              </a:rPr>
              <a:t>reordering can't change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2377440"/>
            <a:ext cx="5120640" cy="265176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69728A"/>
                </a:solidFill>
                <a:latin typeface="Consolas"/>
              </a:rPr>
              <a:t>Extension segment (JA4)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EDEFF4"/>
                </a:solidFill>
                <a:latin typeface="Consolas"/>
              </a:rPr>
              <a:t>806a8c22fdea   (16 extensions)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1">
                <a:solidFill>
                  <a:srgbClr val="F16A54"/>
                </a:solidFill>
                <a:latin typeface="Consolas"/>
              </a:rPr>
              <a:t>541cd5a3d78e   (17 extensions)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69728A"/>
                </a:solidFill>
                <a:latin typeface="Calibri"/>
              </a:rPr>
              <a:t>Genuinely different — Chrome sent one</a:t>
            </a:r>
            <a:br/>
            <a:r>
              <a:rPr sz="1200" b="0">
                <a:solidFill>
                  <a:srgbClr val="69728A"/>
                </a:solidFill>
                <a:latin typeface="Calibri"/>
              </a:rPr>
              <a:t>extra extension the 2nd time. JA4 reports</a:t>
            </a:r>
            <a:br/>
            <a:r>
              <a:rPr sz="1200" b="0">
                <a:solidFill>
                  <a:srgbClr val="69728A"/>
                </a:solidFill>
                <a:latin typeface="Calibri"/>
              </a:rPr>
              <a:t>that honestly instead of hiding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25780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9728A"/>
                </a:solidFill>
                <a:latin typeface="Calibri"/>
              </a:rPr>
              <a:t>Validated against the official FoxIO spec's own published worked examples — not just checked against itself.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11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FROM FINGERPRINT TO DEFENSE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DEFF4"/>
                </a:solidFill>
                <a:latin typeface="Calibri"/>
              </a:rPr>
              <a:t>How a bot pretends to be Chrome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9875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The cheap, common trick: set the HTTP "User-Agent" header to Chrome's exact string — one line of code, free to fake.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07792"/>
            <a:ext cx="9875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But the TLS ClientHello was already sent, moments earlier, by whichever real library the bot's script actually uses.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621024"/>
            <a:ext cx="9875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That handshake is a structural byproduct of the real library — not something typed by hand, much harder to fake convincingly.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334256"/>
            <a:ext cx="9875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The mismatch between the claim and the real handshake is the tell.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12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CATCHING THE LIE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EDEFF4"/>
                </a:solidFill>
                <a:latin typeface="Calibri"/>
              </a:rPr>
              <a:t>Spoofing detection, live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10515600" cy="237744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69728A"/>
                </a:solidFill>
                <a:latin typeface="Consolas"/>
              </a:rPr>
              <a:t>$ tls-fingerprint check-spoofing pcaps/bot_client.pcap --claims Chrome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9AA3B5"/>
                </a:solidFill>
                <a:latin typeface="Consolas"/>
              </a:rPr>
              <a:t>Claims to be:  Chrome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9AA3B5"/>
                </a:solidFill>
                <a:latin typeface="Consolas"/>
              </a:rPr>
              <a:t>Measured JA3:  f21f8e6cf70d5980ecfe9fa2e0ef401c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500" b="1">
                <a:solidFill>
                  <a:srgbClr val="F16A54"/>
                </a:solidFill>
                <a:latin typeface="Consolas"/>
              </a:rPr>
              <a:t>VERDICT: *** MISMATCH — SUSPICIOUS ***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9AA3B5"/>
                </a:solidFill>
                <a:latin typeface="Consolas"/>
              </a:rPr>
              <a:t>matches: Python 3.14.6 stdlib ssl (ssl.create_default_context)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120640"/>
            <a:ext cx="9875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9AA3B5"/>
                </a:solidFill>
                <a:latin typeface="Calibri"/>
              </a:rPr>
              <a:t>The claimed identity was checked against the database's real Chrome hashes from slide 7 — it didn't match, so it's flagged, and the tool reports what it actually is instead.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13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UNDER 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DEFF4"/>
                </a:solidFill>
                <a:latin typeface="Calibri"/>
              </a:rPr>
              <a:t>5 rapid requests. 5 for 5, caught.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10515600" cy="274320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69728A"/>
                </a:solidFill>
                <a:latin typeface="Consolas"/>
              </a:rPr>
              <a:t>$ python experiments/bombard_demo.py 5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F16A54"/>
                </a:solidFill>
                <a:latin typeface="Consolas"/>
              </a:rPr>
              <a:t>request 1/5: JA3=f21f8e6c...  -&gt; FLAGGED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F16A54"/>
                </a:solidFill>
                <a:latin typeface="Consolas"/>
              </a:rPr>
              <a:t>request 2/5: JA3=f21f8e6c...  -&gt; FLAGGED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F16A54"/>
                </a:solidFill>
                <a:latin typeface="Consolas"/>
              </a:rPr>
              <a:t>request 3/5: JA3=f21f8e6c...  -&gt; FLAGGED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F16A54"/>
                </a:solidFill>
                <a:latin typeface="Consolas"/>
              </a:rPr>
              <a:t>request 4/5: JA3=f21f8e6c...  -&gt; FLAGGED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F16A54"/>
                </a:solidFill>
                <a:latin typeface="Consolas"/>
              </a:rPr>
              <a:t>request 5/5: JA3=f21f8e6c...  -&gt; FLAGGED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400" b="1">
                <a:solidFill>
                  <a:srgbClr val="49C79A"/>
                </a:solidFill>
                <a:latin typeface="Consolas"/>
              </a:rPr>
              <a:t>Result: 5/5 requests correctly flagged.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212080"/>
            <a:ext cx="9875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A3B5"/>
                </a:solidFill>
                <a:latin typeface="Calibri"/>
              </a:rPr>
              <a:t>Real botnets spread requests across many IPs to stay under rate-limit thresholds. That trick doesn't help here — every connection is judged on its own real handshake, independently, so more requests just means more identical evidence.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14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WHAT THIS DOESN'T PROVE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DEFF4"/>
                </a:solidFill>
                <a:latin typeface="Calibri"/>
              </a:rPr>
              <a:t>A fingerprint is a hint, not a verdict.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A33D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19456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3B5"/>
                </a:solidFill>
                <a:latin typeface="Calibri"/>
              </a:rPr>
              <a:t>Same hash != same software — two unrelated programs on the same library/config fingerprint identically.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71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A33D"/>
                </a:solidFill>
                <a:latin typeface="Consolas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97180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3B5"/>
                </a:solidFill>
                <a:latin typeface="Calibri"/>
              </a:rPr>
              <a:t>JA3S depends on the client, too — two of our own clients produced an identical JA3S against the same server.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749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A33D"/>
                </a:solidFill>
                <a:latin typeface="Consolas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749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3B5"/>
                </a:solidFill>
                <a:latin typeface="Calibri"/>
              </a:rPr>
              <a:t>GREASE and reordering actively fight back — Chrome randomizes its own hello on purpose (slide 9).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5262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A33D"/>
                </a:solidFill>
                <a:latin typeface="Consolas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52628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3B5"/>
                </a:solidFill>
                <a:latin typeface="Calibri"/>
              </a:rPr>
              <a:t>Evasion is possible — since the fingerprint is client-controlled bytes, a determined attacker can copy it exactly.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A33D"/>
                </a:solidFill>
                <a:latin typeface="Consolas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530352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3B5"/>
                </a:solidFill>
                <a:latin typeface="Calibri"/>
              </a:rPr>
              <a:t>Nothing here decrypts anything — only the already-unencrypted handshake preamble is ever read.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15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IN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DEFF4"/>
                </a:solidFill>
                <a:latin typeface="Calibri"/>
              </a:rPr>
              <a:t>Built, tested, and proven against real traffic.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0312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9AA3B5"/>
                </a:solidFill>
                <a:latin typeface="Calibri"/>
              </a:rPr>
              <a:t>Every hash on every slide came from a real handshake with a real server — none of it invented.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0896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8A33D"/>
                </a:solidFill>
                <a:latin typeface="Calibr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3B5"/>
                </a:solidFill>
                <a:latin typeface="Calibri"/>
              </a:rPr>
              <a:t>measured DB entries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310896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8A33D"/>
                </a:solidFill>
                <a:latin typeface="Calibri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3B5"/>
                </a:solidFill>
                <a:latin typeface="Calibri"/>
              </a:rPr>
              <a:t>real experiments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310896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8A33D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3B5"/>
                </a:solidFill>
                <a:latin typeface="Calibri"/>
              </a:rPr>
              <a:t>fingerprint schemes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75488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9728A"/>
                </a:solidFill>
                <a:latin typeface="Calibri"/>
              </a:rPr>
              <a:t>TLS Fingerprinting — Computer Networks course project.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